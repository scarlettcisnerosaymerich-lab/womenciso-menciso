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j/DI+nZBN1KXdsISqNdXfqPPi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d9e594a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9d9e594ac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d9e594a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9d9e594ac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d9e594a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9d9e594ac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9d9e594a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9d9e594ac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d9e594ac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9d9e594ac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29538" y="2790305"/>
            <a:ext cx="103326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Ecosistema Multicapa de Ciberseguridad Logística Zero-Trust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Prevención Automática de GPS Spoofing, Ingeniería Social y Gestión Descentralizada P2P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731525" y="457200"/>
            <a:ext cx="106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Definición del Problema y Propuesta de Valor Única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731520" y="1645920"/>
            <a:ext cx="512064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EL PROBLEMA CRÍTICO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Pérdidas Económicas: El robo de carga en México supera los $7,000 MDP anuales (Forbes, 2026).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Falla Tecnológica: Los rastreadores tradicionales confían a ciegas en señales satelitales NMEA, siendo vulnerables a GPS Spoofing.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Vulnerabilidad Humana: Intimidación e ingeniería social sobre operadores para forzar el apagado de unidades sin alertar al C5.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Falsos Positivos: Ineficiencia operativa provocada por bloqueos remotos accidentales.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6309360" y="1645920"/>
            <a:ext cx="512064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NUESTRA PROPUESTA DE VALOR ÚNICA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Edge AI Anti-Spoofing: Fusión física de datos GNSS + IMU directamente en el hardware para detectar anomalías de velocidad antes de la nube.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Red P2P de Hashes Criptográficos: Rastreo colaborativo mutuo entre unidades cercanas para alertar de jammers de forma descentralizada.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Valor Dual: Protección física integral para el usuario (conductor) y reducción directa de primas de seguro para el dueño.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Framework DevSecOps: Seguridad automatizada de extremo a extremo con identidades criptográficas únicas (X.509).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Arquitectura de las 4 Capas y Ciclo de Desarrollo DevSecOps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31520" y="164592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1: Movilidad Urbana  |  Carga: Uber, Didi, Taxis, Repartidores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Biometría de coacción (voz/rostro), botón de pánico silencioso y red P2P mallada urbana.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31520" y="278892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2: Logística Terrestre  |  Carga: Soriana, Liverpool, Retail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Rutas Google Maps, geocercas dinámicas, pago de peaje dinámico por token (sin tags/efectivo).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31520" y="393192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3: Industrial Crítica  |  Carga: Química, Petroquímica, Maquinaria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Fusión estricta GNSS+IMU anti-spoofing, escolta virtual P2P y apagado progresivo seguro del motor.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31520" y="507492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4: Logística Multimodal  |  Carga: Navítima, Barcos, Carga Aérea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Sellos inteligentes con criptografía de bloques desde aduanas/puertos (Manzanillo) a tierra.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d9e594ac_1_3"/>
          <p:cNvSpPr txBox="1"/>
          <p:nvPr/>
        </p:nvSpPr>
        <p:spPr>
          <a:xfrm>
            <a:off x="731520" y="457200"/>
            <a:ext cx="106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Arquitectura de las 4 Capas y Ciclo de Desarrollo DevSecOps</a:t>
            </a:r>
            <a:endParaRPr/>
          </a:p>
        </p:txBody>
      </p:sp>
      <p:sp>
        <p:nvSpPr>
          <p:cNvPr id="106" name="Google Shape;106;g3f9d9e594ac_1_3"/>
          <p:cNvSpPr/>
          <p:nvPr/>
        </p:nvSpPr>
        <p:spPr>
          <a:xfrm>
            <a:off x="731520" y="1042195"/>
            <a:ext cx="10698600" cy="1005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1: Movilidad Urbana  |  Carga: Uber, Didi, Taxis, Repartidores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Biometría de coacción (voz/rostro), botón de pánico silencioso y red P2P mallada urbana.</a:t>
            </a:r>
            <a:endParaRPr/>
          </a:p>
        </p:txBody>
      </p:sp>
      <p:pic>
        <p:nvPicPr>
          <p:cNvPr id="107" name="Google Shape;107;g3f9d9e594ac_1_3" title="Code_Generated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000" y="228600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d9e594ac_1_20"/>
          <p:cNvSpPr txBox="1"/>
          <p:nvPr/>
        </p:nvSpPr>
        <p:spPr>
          <a:xfrm>
            <a:off x="731520" y="457200"/>
            <a:ext cx="106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Arquitectura de las 4 Capas y Ciclo de Desarrollo DevSecOps</a:t>
            </a:r>
            <a:endParaRPr/>
          </a:p>
        </p:txBody>
      </p:sp>
      <p:sp>
        <p:nvSpPr>
          <p:cNvPr id="113" name="Google Shape;113;g3f9d9e594ac_1_20"/>
          <p:cNvSpPr/>
          <p:nvPr/>
        </p:nvSpPr>
        <p:spPr>
          <a:xfrm>
            <a:off x="731520" y="1042195"/>
            <a:ext cx="10698600" cy="1005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2: Logística Terrestre  |  Carga: Soriana, Liverpool, Retail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Rutas Google Maps, geocercas dinámicas, pago de peaje dinámico por token (sin tags/efectivo).</a:t>
            </a:r>
            <a:endParaRPr/>
          </a:p>
        </p:txBody>
      </p:sp>
      <p:pic>
        <p:nvPicPr>
          <p:cNvPr id="114" name="Google Shape;114;g3f9d9e594ac_1_20" title="Code_Generated_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675" y="228600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d9e594ac_1_30"/>
          <p:cNvSpPr txBox="1"/>
          <p:nvPr/>
        </p:nvSpPr>
        <p:spPr>
          <a:xfrm>
            <a:off x="731520" y="457200"/>
            <a:ext cx="106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Arquitectura de las 4 Capas y Ciclo de Desarrollo DevSecOps</a:t>
            </a:r>
            <a:endParaRPr/>
          </a:p>
        </p:txBody>
      </p:sp>
      <p:sp>
        <p:nvSpPr>
          <p:cNvPr id="120" name="Google Shape;120;g3f9d9e594ac_1_30"/>
          <p:cNvSpPr/>
          <p:nvPr/>
        </p:nvSpPr>
        <p:spPr>
          <a:xfrm>
            <a:off x="731520" y="1156070"/>
            <a:ext cx="10698600" cy="1005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3: Industrial Crítica  |  Carga: Química, Petroquímica, Maquinaria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Fusión estricta GNSS+IMU anti-spoofing, escolta virtual P2P y apagado progresivo seguro del motor.</a:t>
            </a:r>
            <a:endParaRPr/>
          </a:p>
        </p:txBody>
      </p:sp>
      <p:pic>
        <p:nvPicPr>
          <p:cNvPr id="121" name="Google Shape;121;g3f9d9e594ac_1_30" title="Code_Generated_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838" y="227585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d9e594ac_1_47"/>
          <p:cNvSpPr txBox="1"/>
          <p:nvPr/>
        </p:nvSpPr>
        <p:spPr>
          <a:xfrm>
            <a:off x="731520" y="457200"/>
            <a:ext cx="106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Arquitectura de las 4 Capas y Ciclo de Desarrollo DevSecOps</a:t>
            </a:r>
            <a:endParaRPr/>
          </a:p>
        </p:txBody>
      </p:sp>
      <p:sp>
        <p:nvSpPr>
          <p:cNvPr id="127" name="Google Shape;127;g3f9d9e594ac_1_47"/>
          <p:cNvSpPr/>
          <p:nvPr/>
        </p:nvSpPr>
        <p:spPr>
          <a:xfrm>
            <a:off x="746532" y="1042195"/>
            <a:ext cx="10698600" cy="1005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Capa 4: Logística Multimodal  |  Carga: Navítima, Barcos, Carga Aérea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Sellos inteligentes con criptografía de bloques desde aduanas/puertos (Manzanillo) a tierra.</a:t>
            </a:r>
            <a:endParaRPr/>
          </a:p>
        </p:txBody>
      </p:sp>
      <p:pic>
        <p:nvPicPr>
          <p:cNvPr id="128" name="Google Shape;128;g3f9d9e594ac_1_47" title="Code_Generated_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825" y="228600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/>
        </p:nvSpPr>
        <p:spPr>
          <a:xfrm>
            <a:off x="731525" y="457200"/>
            <a:ext cx="10698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Conocimiento de Mercado: Modelo de Integración por SDK (Aliados)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31520" y="1645920"/>
            <a:ext cx="512064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EL PARADIGMA TRADICIONAL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Competidores Tradicionales: AI27, Ubícalo, Pointer, Car Track.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Barreras de Mercado: Tratar de competir creando una nueva plataforma de navegación o vendiendo hardware aislado es costoso y lento.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Fricción Operativa: Los clientes finales se resisten a cambiar sus plataformas de monitoreo actuales.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Procesamiento Pasivo: Las soluciones actuales solo reaccionan tras perder el vehículo.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309360" y="1645920"/>
            <a:ext cx="512064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ESTRATEGIA DISRUPTIVA: SDK ECOSISTEMA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Transformación de Competidores a Aliados: Nos integramos directamente como un SDK nativo en plataformas existentes (Google Maps, Uber, Didi, AI27).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Win-Win Comercial: Ellos obtienen un motor de ciberseguridad industrial e IA in-house sin gasto de I+D.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Escalabilidad Exponencial: Escalamos el volumen de usuarios y datos procesados sin fricción de adopción.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Conexión con C5 y Guardia Nacional: Alertas verificadas criptográficamente canalizadas directamente a la autoridad.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DATOS VERIFICADOS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Análisis de Factibilidad Financiera: CAPEX, OPEX y ROI Real</a:t>
            </a:r>
            <a:endParaRPr/>
          </a:p>
        </p:txBody>
      </p:sp>
      <p:pic>
        <p:nvPicPr>
          <p:cNvPr descr="financial_chart_exec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50292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6035040" y="1645920"/>
            <a:ext cx="539496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CÁLCULO DEL ROI Y FUENTES CONFIRMADAS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Modelo Piloto: 500 tractocamiones (0.11% del parque vehicular nacional de 436,610 unidades - SICT).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CAPEX (Inversión Inicial): $2,300,000 MXN</a:t>
            </a:r>
            <a:b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- Hardware Edge AI (GPS+IMU+LTE): $1.5 MDP ($3,000/nodo)</a:t>
            </a:r>
            <a:b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- Desarrollo Platform &amp; DevSecOps: $800,000 MXN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OPEX Anual (Año 1): $1,380,000 MXN (Nube GCP, conectividad LTE-M y soporte).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Ingresos Año 1: $5,250,000 MXN ($4,500 setup + $500/mes SaaS).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Cálculo ROI: ((Ingresos - Costos Totales) / Costos Totales) * 100</a:t>
            </a:r>
            <a:b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- ROI = (($5,250,000 - $3,680,000) / $3,680,000) * 100 = 42.6%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Fuentes Oficiales: SICT (Parque vehicular), AI27/CONATRAM (15,937 robos anuales), Forbes MX (2026, pérdidas &gt;$7,000 MDP).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f9d9e594ac_1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6" cy="594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731520" y="457200"/>
            <a:ext cx="106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PRESENTACIÓN EJECUTIVA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Trabajo en Equipo y Progreso del Producto (MVP)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731520" y="1645920"/>
            <a:ext cx="512064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ESTRUCTURA DEL EQUIPO (4 MUJERES)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Program Manager y Arquitectura:</a:t>
            </a:r>
            <a:r>
              <a:rPr lang="en-US" sz="10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Scarlett Alejandra Cisneros Aymerich (Gestión técnica, financiera y viabilidad).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Especialista en Ciberseguridad: Diseño Zero-Trust, certificados X.509 y pipelines CI/CD</a:t>
            </a:r>
            <a:r>
              <a:rPr lang="en-US" sz="10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 Cynthia Patricia Sandoval Mendoza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Ingeniería Mecatrónica: Prototipado físico Edge AI, integración de sensores GNSS/IMU.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Investigación de pruebas</a:t>
            </a:r>
            <a:r>
              <a:rPr lang="en-US" sz="10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y Compliance: Análisis normativo (SCT, IFT, LFPDPPP) y benchmarking de mercado</a:t>
            </a:r>
            <a:r>
              <a:rPr lang="en-US" sz="10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 Karol Martha del Carmen Nuñez Guzman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309360" y="1645920"/>
            <a:ext cx="5120640" cy="4572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PROGRESO DEL PRODUCTO (MVP)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Fase de Prototipado: Microcontrolador validado con algoritmo Edge AI para detección de aceleraciones imposibles.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Pipeline DevSecOps: Repositorio en GitHub con integración de análisis estático (SAST) y composición de software (SCA).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Simulación de Red: Algoritmo de hashes P2P probado en entorno simulado para validar tolerancia a fallos ante jammers.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Roadmap a 12 Semanas: Plan de ejecución de pruebas SDR en campo y despliegue final en la nube (GCP).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